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1ECB5883-038C-4696-8E27-1811E470D6D4}" type="datetime1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68235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F6069-8263-4296-913A-BC2234E8D32B}" type="datetime1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430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F5005-EC25-4FB9-B19B-2437F0B120D2}" type="datetime1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55986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83B5C-2325-42FF-AF91-C1451D9D66CC}" type="datetime1">
              <a:rPr lang="en-US" smtClean="0"/>
              <a:t>5/10/2024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2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8DB08-3B01-46DD-99F2-F6F6334EA669}" type="datetime1">
              <a:rPr lang="en-US" smtClean="0"/>
              <a:t>5/10/2024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25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2AC11-ACC3-4129-BBD7-C580BF1A4EE7}" type="datetime1">
              <a:rPr lang="en-US" smtClean="0"/>
              <a:t>5/10/2024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423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0F7F3-E406-44E2-93AF-674B3F1A2E51}" type="datetime1">
              <a:rPr lang="en-US" smtClean="0"/>
              <a:t>5/10/2024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713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1DD93-7C9D-4E53-81F0-DDE57FEA7EDB}" type="datetime1">
              <a:rPr lang="en-US" smtClean="0"/>
              <a:t>5/10/2024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59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7BC28-59DE-4F83-B4A1-497203279FAD}" type="datetime1">
              <a:rPr lang="en-US" smtClean="0"/>
              <a:t>5/10/2024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6609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8A6D4-154B-4E4D-9001-7A6C328D243E}" type="datetime1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638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80999-9BD6-4929-BDEC-B84E21C16701}" type="datetime1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3110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BDC4764-F656-4735-9820-9886F8DF1D6A}" type="datetime1">
              <a:rPr lang="en-US" smtClean="0"/>
              <a:t>5/10/2024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68AC1EC-23E2-4F0E-A5A4-674EC8DB954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97785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BC4B3A0-3938-4EC0-A6FC-8CEDDB520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521677-ED76-46E9-872D-BFC3998DE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rgbClr val="8F71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61DD39-06E0-8BFC-EEDE-91FC653685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276" y="640080"/>
            <a:ext cx="4208656" cy="3034857"/>
          </a:xfrm>
        </p:spPr>
        <p:txBody>
          <a:bodyPr anchor="b"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ONLINE BIKE RENTAL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7E2553-A2A7-6E06-D4F8-81F5FD62BA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921" y="3849539"/>
            <a:ext cx="4204012" cy="2359417"/>
          </a:xfrm>
        </p:spPr>
        <p:txBody>
          <a:bodyPr anchor="t">
            <a:normAutofit/>
          </a:bodyPr>
          <a:lstStyle/>
          <a:p>
            <a:pPr algn="r"/>
            <a:r>
              <a:rPr lang="en-US" sz="1600">
                <a:solidFill>
                  <a:srgbClr val="FFFFFF"/>
                </a:solidFill>
              </a:rPr>
              <a:t>Md Noorullah Khan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6C6E9B3-1D36-403B-BFB4-D168E11FE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6679" y="3765314"/>
            <a:ext cx="3931920" cy="0"/>
          </a:xfrm>
          <a:prstGeom prst="line">
            <a:avLst/>
          </a:prstGeom>
          <a:ln w="19050">
            <a:solidFill>
              <a:srgbClr val="F08B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Gradient pastel colors on a top view">
            <a:extLst>
              <a:ext uri="{FF2B5EF4-FFF2-40B4-BE49-F238E27FC236}">
                <a16:creationId xmlns:a16="http://schemas.microsoft.com/office/drawing/2014/main" id="{3EDEBD3B-3DAD-13AA-5CB0-76DF3E592E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296" r="17295" b="-1"/>
          <a:stretch/>
        </p:blipFill>
        <p:spPr>
          <a:xfrm>
            <a:off x="5468548" y="10"/>
            <a:ext cx="672017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703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DE309-8AE2-ED9F-D5FE-9CDA4BE4B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559" y="788416"/>
            <a:ext cx="10563032" cy="149961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921EF-C386-9665-29D2-59026F5DA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559" y="2489202"/>
            <a:ext cx="10563032" cy="3554614"/>
          </a:xfrm>
        </p:spPr>
        <p:txBody>
          <a:bodyPr>
            <a:normAutofit/>
          </a:bodyPr>
          <a:lstStyle/>
          <a:p>
            <a:pPr marL="353187" indent="-353187" defTabSz="941832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Simple and easy bike rental</a:t>
            </a:r>
          </a:p>
          <a:p>
            <a:pPr marL="353187" indent="-353187" defTabSz="941832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Easy browsing, Booking and renting of bikes.</a:t>
            </a:r>
          </a:p>
          <a:p>
            <a:pPr marL="353187" indent="-353187" defTabSz="941832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Authentication &amp; Authorization</a:t>
            </a:r>
            <a:endParaRPr lang="en-US" sz="2400" dirty="0"/>
          </a:p>
          <a:p>
            <a:pPr marL="353187" indent="-353187" defTabSz="941832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3096F-3703-BDCA-6DDB-5D71EDD9D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79F6069-8263-4296-913A-BC2234E8D32B}" type="datetime1">
              <a:rPr lang="en-US">
                <a:solidFill>
                  <a:schemeClr val="bg1">
                    <a:lumMod val="95000"/>
                    <a:lumOff val="5000"/>
                  </a:schemeClr>
                </a:solidFill>
              </a:rPr>
              <a:pPr>
                <a:spcAft>
                  <a:spcPts val="600"/>
                </a:spcAft>
              </a:pPr>
              <a:t>5/10/2024</a:t>
            </a:fld>
            <a:endParaRPr lang="en-US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686FF-36F6-9D54-4766-4BB558886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Online bike rental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9E614-58A7-5D4A-E753-5E33E241E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68AC1EC-23E2-4F0E-A5A4-674EC8DB954E}" type="slidenum">
              <a:rPr lang="en-US">
                <a:solidFill>
                  <a:schemeClr val="bg1">
                    <a:lumMod val="95000"/>
                    <a:lumOff val="5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6359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1150E-0904-E1E5-6F5D-929FB4BDA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65BE9-FE63-F9CA-E573-D373B386E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2461" indent="-252461" defTabSz="807872">
              <a:spcAft>
                <a:spcPts val="570"/>
              </a:spcAft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Bike rental services available in many countries.</a:t>
            </a:r>
          </a:p>
          <a:p>
            <a:pPr marL="252461" indent="-252461" defTabSz="807872">
              <a:spcAft>
                <a:spcPts val="570"/>
              </a:spcAft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Absence of a comprehensive system in Nepal.</a:t>
            </a:r>
          </a:p>
          <a:p>
            <a:pPr marL="252461" indent="-252461" defTabSz="807872">
              <a:spcAft>
                <a:spcPts val="570"/>
              </a:spcAft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Motorcycles are expensive products.</a:t>
            </a:r>
          </a:p>
          <a:p>
            <a:pPr marL="252461" indent="-252461" defTabSz="807872">
              <a:spcAft>
                <a:spcPts val="570"/>
              </a:spcAft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Rental services make riding accessible to a wider audience.</a:t>
            </a:r>
            <a:endParaRPr lang="en-US" dirty="0"/>
          </a:p>
          <a:p>
            <a:pPr marL="252461" indent="-252461" defTabSz="807872">
              <a:spcAft>
                <a:spcPts val="57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B4530-128E-934F-C859-4EE9F4C27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F6069-8263-4296-913A-BC2234E8D32B}" type="datetime1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0B13E-EDBB-D020-E014-FB295E130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ONLINE BIKE RENTAL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F4561-3FDB-6A8B-2B77-851DC3814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524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BE7BC-7E39-9816-87F9-5D93ABAD1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OBJECTIVE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265F8-2179-AB0D-7C20-61F1250B6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To develop a web-based system to reserve bike online.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To provide customers platform for easy browsing, booking, and renting of bike.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5DE6A-6D1E-0D5D-BCE4-F7DE013B8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F6069-8263-4296-913A-BC2234E8D32B}" type="datetime1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85359-935A-E86B-0C5C-3FA16792E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0E705-6592-1FF4-E66E-6B3A236F6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835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6E0FF-27F1-8E98-B1E8-E3E1EDF19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Scope and limitation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18C2A-A5B8-9843-EFA5-68BFB1390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0782" y="2361415"/>
            <a:ext cx="4443418" cy="4023360"/>
          </a:xfrm>
        </p:spPr>
        <p:txBody>
          <a:bodyPr/>
          <a:lstStyle/>
          <a:p>
            <a:r>
              <a:rPr lang="en-US" dirty="0"/>
              <a:t>LIMITATION</a:t>
            </a:r>
          </a:p>
          <a:p>
            <a:pPr marL="322326" marR="0" lvl="0" indent="-322326" algn="just" defTabSz="85953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n-US" sz="16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No online payment available, only cash on site is preferred.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22326" marR="0" lvl="0" indent="-322326" algn="just" defTabSz="85953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n-US" sz="16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Since it is online based, internet is required. The location of vehicles or customers who booked the vehicles cannot be tracked.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0E882-D8D7-CABF-A5C5-AD728C5DB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F6069-8263-4296-913A-BC2234E8D32B}" type="datetime1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0E9D4-0C64-5E03-8821-7695F9A07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5EA59-1B9C-7008-2838-348BC5F31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5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6670CA-0608-FB1F-E427-C6C9B7B08A81}"/>
              </a:ext>
            </a:extLst>
          </p:cNvPr>
          <p:cNvSpPr txBox="1">
            <a:spLocks/>
          </p:cNvSpPr>
          <p:nvPr/>
        </p:nvSpPr>
        <p:spPr>
          <a:xfrm>
            <a:off x="1176529" y="2438400"/>
            <a:ext cx="4443418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SCOPE</a:t>
            </a:r>
          </a:p>
          <a:p>
            <a:pPr marL="322326" marR="0" lvl="0" indent="-322326" algn="just" defTabSz="85953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Pts val="1200"/>
              <a:buFont typeface="Symbol" panose="05050102010706020507" pitchFamily="18" charset="2"/>
              <a:buChar char=""/>
              <a:tabLst/>
              <a:defRPr/>
            </a:pPr>
            <a:r>
              <a:rPr kumimoji="0" lang="en-US" sz="16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User-friendly environment.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22326" marR="0" lvl="0" indent="-322326" algn="just" defTabSz="85953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Pts val="1200"/>
              <a:buFont typeface="Symbol" panose="05050102010706020507" pitchFamily="18" charset="2"/>
              <a:buChar char=""/>
              <a:tabLst/>
              <a:defRPr/>
            </a:pPr>
            <a:r>
              <a:rPr kumimoji="0" lang="en-US" sz="16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Users can easily view book details in their dashboard.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22326" marR="0" lvl="0" indent="-322326" algn="just" defTabSz="85953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Pts val="1200"/>
              <a:buFont typeface="Symbol" panose="05050102010706020507" pitchFamily="18" charset="2"/>
              <a:buChar char=""/>
              <a:tabLst/>
              <a:defRPr/>
            </a:pPr>
            <a:r>
              <a:rPr kumimoji="0" lang="en-US" sz="16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Unauthorized users cannot access the system.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22326" marR="0" lvl="0" indent="-322326" algn="just" defTabSz="85953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Pts val="1200"/>
              <a:buFont typeface="Symbol" panose="05050102010706020507" pitchFamily="18" charset="2"/>
              <a:buChar char=""/>
              <a:tabLst/>
              <a:defRPr/>
            </a:pPr>
            <a:r>
              <a:rPr kumimoji="0" lang="en-US" sz="16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Users of any experience can easily browse through the website.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22326" marR="0" lvl="0" indent="-322326" algn="just" defTabSz="85953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Pts val="1200"/>
              <a:buFont typeface="Symbol" panose="05050102010706020507" pitchFamily="18" charset="2"/>
              <a:buChar char=""/>
              <a:tabLst/>
              <a:defRPr/>
            </a:pPr>
            <a:r>
              <a:rPr kumimoji="0" lang="en-US" sz="16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User can easily view the availability status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870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6E2FB-47D2-60C3-0C14-824B22CA1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analysis and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96188-60E0-9C1B-066D-BD58C0B26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Waterfall Model: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9A8EF-1304-1683-8309-A6E7EDEB1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F6069-8263-4296-913A-BC2234E8D32B}" type="datetime1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092D7-0D14-CBA0-C43D-BF3287E97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22F9B-2F16-E87A-8456-3D685FDCC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 descr="A diagram of a process&#10;&#10;Description automatically generated">
            <a:extLst>
              <a:ext uri="{FF2B5EF4-FFF2-40B4-BE49-F238E27FC236}">
                <a16:creationId xmlns:a16="http://schemas.microsoft.com/office/drawing/2014/main" id="{F8BC6B1F-B17E-DF58-E0C4-DE94F5D651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315"/>
          <a:stretch/>
        </p:blipFill>
        <p:spPr>
          <a:xfrm>
            <a:off x="3416332" y="2286000"/>
            <a:ext cx="5664899" cy="367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699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90A10-91AA-2B45-768F-BB5D94842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D30CC-B9A3-4B4A-AA75-5070AB509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4207748" cy="4023360"/>
          </a:xfrm>
        </p:spPr>
        <p:txBody>
          <a:bodyPr/>
          <a:lstStyle/>
          <a:p>
            <a:pPr marL="0" marR="0" lvl="0" indent="0" algn="l" defTabSz="9052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None/>
              <a:tabLst/>
              <a:defRPr/>
            </a:pPr>
            <a:r>
              <a:rPr lang="en-US" sz="1800" dirty="0">
                <a:latin typeface="Calibri" panose="020F0502020204030204"/>
              </a:rPr>
              <a:t>FUNCTIONAL REQUIREMENT: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39471" marR="0" lvl="0" indent="-339471" algn="l" defTabSz="9052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Customer Login/Registration Module</a:t>
            </a:r>
          </a:p>
          <a:p>
            <a:pPr marL="339471" indent="-339471" defTabSz="905256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Customer Dashboard</a:t>
            </a:r>
          </a:p>
          <a:p>
            <a:pPr marL="339471" indent="-339471" defTabSz="905256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Admin Dashboard</a:t>
            </a:r>
          </a:p>
          <a:p>
            <a:pPr marL="339471" indent="-339471" defTabSz="905256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Bike Selection</a:t>
            </a:r>
          </a:p>
          <a:p>
            <a:pPr marL="339471" indent="-339471" defTabSz="905256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Availability Status</a:t>
            </a:r>
          </a:p>
          <a:p>
            <a:pPr marL="339471" indent="-339471" defTabSz="905256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Rental Management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D2C21-401E-B3EC-B1DB-A9A74182B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F6069-8263-4296-913A-BC2234E8D32B}" type="datetime1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C1F00-FB3C-C37F-0E4B-5009BF1A2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AEE46-8772-C699-03F8-E2B637391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7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F97A04A-00D1-F621-E44A-F6D7A55B76E7}"/>
              </a:ext>
            </a:extLst>
          </p:cNvPr>
          <p:cNvSpPr txBox="1">
            <a:spLocks/>
          </p:cNvSpPr>
          <p:nvPr/>
        </p:nvSpPr>
        <p:spPr>
          <a:xfrm>
            <a:off x="6427259" y="2084832"/>
            <a:ext cx="4207748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0525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Tw Cen MT" panose="020B0602020104020603" pitchFamily="34" charset="0"/>
              <a:buNone/>
              <a:defRPr/>
            </a:pPr>
            <a:r>
              <a:rPr lang="en-US" sz="1800" dirty="0">
                <a:latin typeface="Calibri" panose="020F0502020204030204"/>
              </a:rPr>
              <a:t>NON-FUNCTIONAL REQUIREMENT:</a:t>
            </a:r>
          </a:p>
          <a:p>
            <a:pPr marL="339471" indent="-339471" defTabSz="90525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latin typeface="Calibri" panose="020F0502020204030204"/>
              </a:rPr>
              <a:t>Usability</a:t>
            </a:r>
          </a:p>
          <a:p>
            <a:pPr marL="339471" indent="-339471" defTabSz="90525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latin typeface="Calibri" panose="020F0502020204030204"/>
              </a:rPr>
              <a:t>Security</a:t>
            </a:r>
          </a:p>
          <a:p>
            <a:pPr marL="339471" indent="-339471" defTabSz="90525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latin typeface="Calibri" panose="020F0502020204030204"/>
              </a:rPr>
              <a:t>Reliability</a:t>
            </a:r>
          </a:p>
        </p:txBody>
      </p:sp>
    </p:spTree>
    <p:extLst>
      <p:ext uri="{BB962C8B-B14F-4D97-AF65-F5344CB8AC3E}">
        <p14:creationId xmlns:p14="http://schemas.microsoft.com/office/powerpoint/2010/main" val="75304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2D9A1FA-7882-4E21-8992-3118E9A56F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32D969-ED10-4CDB-B2FD-986533B3F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599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EFC2FD-29EE-6FAC-2375-BC5624186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59317"/>
            <a:ext cx="4389120" cy="1749552"/>
          </a:xfrm>
        </p:spPr>
        <p:txBody>
          <a:bodyPr>
            <a:normAutofit/>
          </a:bodyPr>
          <a:lstStyle/>
          <a:p>
            <a:r>
              <a:rPr lang="en-US" sz="4400"/>
              <a:t>USE CASE DIAGRAM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507E976-1D3B-4938-B59D-5FF8CE60E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72B3F66-BAD8-2B9D-87DB-99A392828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4389120" cy="3931920"/>
          </a:xfrm>
        </p:spPr>
        <p:txBody>
          <a:bodyPr>
            <a:normAutofit/>
          </a:bodyPr>
          <a:lstStyle/>
          <a:p>
            <a:endParaRPr lang="en-US" sz="180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86C3A38-C05E-A8F0-B1AB-C046E0F22B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8398" y="112976"/>
            <a:ext cx="4539473" cy="58198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B0EAD-3302-42AB-9335-7473B282B1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4129" y="6470704"/>
            <a:ext cx="2154143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79F6069-8263-4296-913A-BC2234E8D32B}" type="datetime1">
              <a:rPr lang="en-US" smtClean="0"/>
              <a:pPr>
                <a:spcAft>
                  <a:spcPts val="600"/>
                </a:spcAft>
              </a:pPr>
              <a:t>5/10/2024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411C7-05B7-7505-7C16-9C62704E2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01809" y="6470704"/>
            <a:ext cx="4242582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2E2B21"/>
                </a:solidFill>
              </a:rPr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BF878-8640-95CB-D329-EC0D50A19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68AC1EC-23E2-4F0E-A5A4-674EC8DB954E}" type="slidenum">
              <a:rPr lang="en-US">
                <a:solidFill>
                  <a:srgbClr val="2E2B21"/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rgbClr val="2E2B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3365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8C4F2-468B-EB59-6CB6-9F234C7A8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990665"/>
          </a:xfrm>
        </p:spPr>
        <p:txBody>
          <a:bodyPr/>
          <a:lstStyle/>
          <a:p>
            <a:r>
              <a:rPr lang="en-US" dirty="0"/>
              <a:t>FEASIBILITY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C4E1D-325D-8D98-7B23-66A515227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799617"/>
            <a:ext cx="9720073" cy="450974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Technical Feasibility  </a:t>
            </a:r>
            <a:endParaRPr lang="en-ZA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ZA" sz="1600" dirty="0">
                <a:latin typeface="Calibri" panose="020F0502020204030204"/>
              </a:rPr>
              <a:t>Operational Feasibility</a:t>
            </a:r>
          </a:p>
          <a:p>
            <a:pPr marL="457200" indent="-457200">
              <a:buFont typeface="+mj-lt"/>
              <a:buAutoNum type="arabicPeriod"/>
            </a:pPr>
            <a:r>
              <a:rPr lang="en-ZA" sz="1600" dirty="0">
                <a:latin typeface="Calibri" panose="020F0502020204030204"/>
              </a:rPr>
              <a:t>Economic Feasibility</a:t>
            </a:r>
          </a:p>
          <a:p>
            <a:pPr marL="457200" indent="-457200">
              <a:buFont typeface="+mj-lt"/>
              <a:buAutoNum type="arabicPeriod"/>
            </a:pPr>
            <a:r>
              <a:rPr lang="en-ZA" sz="1600" dirty="0">
                <a:latin typeface="Calibri" panose="020F0502020204030204"/>
              </a:rPr>
              <a:t>Schedule</a:t>
            </a:r>
          </a:p>
          <a:p>
            <a:pPr marL="457200" indent="-457200">
              <a:buFont typeface="+mj-lt"/>
              <a:buAutoNum type="arabicPeriod"/>
            </a:pPr>
            <a:endParaRPr lang="en-ZA" sz="1600" dirty="0">
              <a:latin typeface="Calibri" panose="020F0502020204030204"/>
            </a:endParaRP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07A4D-E450-4530-CE61-190009472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F6069-8263-4296-913A-BC2234E8D32B}" type="datetime1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A3F26-F13D-2076-93A9-686DCC98F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DBE83-238A-A639-3A1C-D3F76136B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704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950E9-4EAD-B611-78E0-0FE76F9E9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437762"/>
            <a:ext cx="7772400" cy="985416"/>
          </a:xfrm>
        </p:spPr>
        <p:txBody>
          <a:bodyPr/>
          <a:lstStyle/>
          <a:p>
            <a:r>
              <a:rPr lang="en-US" dirty="0"/>
              <a:t>Gant chart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372540-3678-6403-EAE4-DDB2492A5E2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0184A-AC40-AD8C-87BF-94EF6DF75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7BC28-59DE-4F83-B4A1-497203279FAD}" type="datetime1">
              <a:rPr lang="en-US" smtClean="0"/>
              <a:t>5/10/2024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C6BBE-3A56-F372-7208-C1A7CB94C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6A74F9-C55B-6AB7-038B-ED48B0CFB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10</a:t>
            </a:fld>
            <a:endParaRPr lang="en-US"/>
          </a:p>
        </p:txBody>
      </p:sp>
      <p:pic>
        <p:nvPicPr>
          <p:cNvPr id="8" name="Picture Placeholder 7" descr="A screenshot of a graph&#10;&#10;Description automatically generated">
            <a:extLst>
              <a:ext uri="{FF2B5EF4-FFF2-40B4-BE49-F238E27FC236}">
                <a16:creationId xmlns:a16="http://schemas.microsoft.com/office/drawing/2014/main" id="{0102767B-3FA0-63DE-36B8-34125F63C4B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43" r="13943"/>
          <a:stretch/>
        </p:blipFill>
        <p:spPr bwMode="auto">
          <a:xfrm>
            <a:off x="0" y="-116638"/>
            <a:ext cx="12188825" cy="505301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7490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8BA90A1-6BEC-48B7-BBE0-8863262254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950F2D-29CC-4F1C-8AFA-D6AE15BFA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C78360-1BC8-F51B-1F7F-F384C0FA68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8779" y="643466"/>
            <a:ext cx="5875847" cy="571426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D6E708-12E6-2CC4-8E96-8E39919B5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4129" y="6470704"/>
            <a:ext cx="2154143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D80F7F3-E406-44E2-93AF-674B3F1A2E51}" type="datetime1">
              <a:rPr lang="en-US" smtClean="0"/>
              <a:pPr>
                <a:spcAft>
                  <a:spcPts val="600"/>
                </a:spcAft>
              </a:pPr>
              <a:t>5/10/2024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8F6171-68A7-C0F1-0688-18A0A1BE7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470704"/>
            <a:ext cx="5901459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FF314-393D-35A8-B9AE-36288C0F8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68AC1EC-23E2-4F0E-A5A4-674EC8DB954E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772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8BA90A1-6BEC-48B7-BBE0-8863262254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950F2D-29CC-4F1C-8AFA-D6AE15BFA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220BBB53-E96C-4930-A258-4EC9DE9C2A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459" y="514526"/>
            <a:ext cx="6926664" cy="5177682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FEFC27-26AE-37E0-0644-C01644FD56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4129" y="6470704"/>
            <a:ext cx="2154143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D80F7F3-E406-44E2-93AF-674B3F1A2E51}" type="datetime1">
              <a:rPr lang="en-US" smtClean="0"/>
              <a:pPr>
                <a:spcAft>
                  <a:spcPts val="600"/>
                </a:spcAft>
              </a:pPr>
              <a:t>5/10/2024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AF74E7-30C1-70F3-3307-15059D640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470704"/>
            <a:ext cx="5901459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0006B-5472-D407-A1F1-7A1040F55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68AC1EC-23E2-4F0E-A5A4-674EC8DB954E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C73C52-9F61-00D1-9D4D-F5CFD78C7FDC}"/>
              </a:ext>
            </a:extLst>
          </p:cNvPr>
          <p:cNvSpPr txBox="1"/>
          <p:nvPr/>
        </p:nvSpPr>
        <p:spPr>
          <a:xfrm>
            <a:off x="3178272" y="5778230"/>
            <a:ext cx="5887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3-Tier Architecture </a:t>
            </a:r>
          </a:p>
        </p:txBody>
      </p:sp>
    </p:spTree>
    <p:extLst>
      <p:ext uri="{BB962C8B-B14F-4D97-AF65-F5344CB8AC3E}">
        <p14:creationId xmlns:p14="http://schemas.microsoft.com/office/powerpoint/2010/main" val="2886419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8BA90A1-6BEC-48B7-BBE0-8863262254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950F2D-29CC-4F1C-8AFA-D6AE15BFA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2.png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177E4FDA-F8DB-FFF2-2F4E-61BBB54B2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2365756"/>
            <a:ext cx="10905066" cy="212648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685966-5A01-9A1A-55D0-EABE1145F2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4129" y="6470704"/>
            <a:ext cx="2154143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D80F7F3-E406-44E2-93AF-674B3F1A2E51}" type="datetime1">
              <a:rPr lang="en-US" smtClean="0"/>
              <a:pPr>
                <a:spcAft>
                  <a:spcPts val="600"/>
                </a:spcAft>
              </a:pPr>
              <a:t>5/10/2024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A993FA-075C-92F1-83CF-BBC86E858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470704"/>
            <a:ext cx="5901459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679EA6-1F01-36E5-9CC4-72C998FFC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68AC1EC-23E2-4F0E-A5A4-674EC8DB954E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49B0C6-2469-1C42-1CEB-F49EF58F82D4}"/>
              </a:ext>
            </a:extLst>
          </p:cNvPr>
          <p:cNvSpPr txBox="1"/>
          <p:nvPr/>
        </p:nvSpPr>
        <p:spPr>
          <a:xfrm>
            <a:off x="3871609" y="5291847"/>
            <a:ext cx="4192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DFD LEVEL 0</a:t>
            </a:r>
          </a:p>
        </p:txBody>
      </p:sp>
    </p:spTree>
    <p:extLst>
      <p:ext uri="{BB962C8B-B14F-4D97-AF65-F5344CB8AC3E}">
        <p14:creationId xmlns:p14="http://schemas.microsoft.com/office/powerpoint/2010/main" val="3443452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8BA90A1-6BEC-48B7-BBE0-8863262254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950F2D-29CC-4F1C-8AFA-D6AE15BFA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ack background with white squares&#10;&#10;Description automatically generated">
            <a:extLst>
              <a:ext uri="{FF2B5EF4-FFF2-40B4-BE49-F238E27FC236}">
                <a16:creationId xmlns:a16="http://schemas.microsoft.com/office/drawing/2014/main" id="{2F643E43-7D8D-0801-A0E7-41B2110634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804" y="480060"/>
            <a:ext cx="7142392" cy="5571066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4EF73C-1488-3D93-1AC3-716E320C1E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4129" y="6470704"/>
            <a:ext cx="2154143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D80F7F3-E406-44E2-93AF-674B3F1A2E51}" type="datetime1">
              <a:rPr lang="en-US" smtClean="0"/>
              <a:pPr>
                <a:spcAft>
                  <a:spcPts val="600"/>
                </a:spcAft>
              </a:pPr>
              <a:t>5/10/2024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834AC9-A822-4E9C-9479-80BDD31DA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470704"/>
            <a:ext cx="5901459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B36B5-07EA-44D8-DD5E-97730B25E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68AC1EC-23E2-4F0E-A5A4-674EC8DB954E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181BEE-7017-0777-341A-37BE6085AC6A}"/>
              </a:ext>
            </a:extLst>
          </p:cNvPr>
          <p:cNvSpPr txBox="1"/>
          <p:nvPr/>
        </p:nvSpPr>
        <p:spPr>
          <a:xfrm>
            <a:off x="3083668" y="5933872"/>
            <a:ext cx="4095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LEVEL 1 DFD</a:t>
            </a:r>
          </a:p>
        </p:txBody>
      </p:sp>
    </p:spTree>
    <p:extLst>
      <p:ext uri="{BB962C8B-B14F-4D97-AF65-F5344CB8AC3E}">
        <p14:creationId xmlns:p14="http://schemas.microsoft.com/office/powerpoint/2010/main" val="1761976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2A421-3816-97D0-AD54-98F8C665D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111609"/>
          </a:xfrm>
        </p:spPr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F9DEE-E9E1-6CDE-0BA5-B15113E15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696825"/>
            <a:ext cx="9720073" cy="461253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TOOLS USED:</a:t>
            </a:r>
          </a:p>
          <a:p>
            <a:pPr marL="342900" marR="0" lvl="0" indent="-342900">
              <a:lnSpc>
                <a:spcPct val="150000"/>
              </a:lnSpc>
              <a:spcBef>
                <a:spcPts val="1190"/>
              </a:spcBef>
              <a:spcAft>
                <a:spcPts val="0"/>
              </a:spcAft>
              <a:buSzPts val="1200"/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Draw.io</a:t>
            </a:r>
          </a:p>
          <a:p>
            <a:pPr marL="342900" marR="0" lvl="0" indent="-342900">
              <a:lnSpc>
                <a:spcPct val="150000"/>
              </a:lnSpc>
              <a:spcBef>
                <a:spcPts val="1190"/>
              </a:spcBef>
              <a:spcAft>
                <a:spcPts val="0"/>
              </a:spcAft>
              <a:buSzPts val="1200"/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Gantt Project</a:t>
            </a:r>
          </a:p>
          <a:p>
            <a:pPr marL="342900" marR="0" lvl="0" indent="-342900">
              <a:lnSpc>
                <a:spcPct val="150000"/>
              </a:lnSpc>
              <a:spcBef>
                <a:spcPts val="1190"/>
              </a:spcBef>
              <a:spcAft>
                <a:spcPts val="0"/>
              </a:spcAft>
              <a:buSzPts val="1200"/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PHP</a:t>
            </a:r>
          </a:p>
          <a:p>
            <a:pPr marL="342900" marR="0" lvl="0" indent="-342900">
              <a:lnSpc>
                <a:spcPct val="150000"/>
              </a:lnSpc>
              <a:spcBef>
                <a:spcPts val="1190"/>
              </a:spcBef>
              <a:spcAft>
                <a:spcPts val="0"/>
              </a:spcAft>
              <a:buSzPts val="1200"/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MySQL</a:t>
            </a:r>
          </a:p>
          <a:p>
            <a:pPr marL="342900" marR="0" lvl="0" indent="-342900">
              <a:lnSpc>
                <a:spcPct val="150000"/>
              </a:lnSpc>
              <a:spcBef>
                <a:spcPts val="1190"/>
              </a:spcBef>
              <a:spcAft>
                <a:spcPts val="0"/>
              </a:spcAft>
              <a:buSzPts val="1200"/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Java script</a:t>
            </a:r>
          </a:p>
          <a:p>
            <a:pPr marL="342900" marR="0" lvl="0" indent="-342900">
              <a:lnSpc>
                <a:spcPct val="150000"/>
              </a:lnSpc>
              <a:spcBef>
                <a:spcPts val="1190"/>
              </a:spcBef>
              <a:spcAft>
                <a:spcPts val="0"/>
              </a:spcAft>
              <a:buSzPts val="1200"/>
              <a:buFont typeface="Symbol" panose="05050102010706020507" pitchFamily="18" charset="2"/>
              <a:buChar char=""/>
            </a:pPr>
            <a:r>
              <a:rPr lang="en-US" sz="2400" dirty="0" err="1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Xampp</a:t>
            </a:r>
            <a:endParaRPr lang="en-US" sz="240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marL="342900" marR="0" lvl="0" indent="-342900">
              <a:lnSpc>
                <a:spcPct val="150000"/>
              </a:lnSpc>
              <a:spcBef>
                <a:spcPts val="1190"/>
              </a:spcBef>
              <a:spcAft>
                <a:spcPts val="0"/>
              </a:spcAft>
              <a:buSzPts val="1200"/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VS code</a:t>
            </a:r>
          </a:p>
          <a:p>
            <a:pPr marL="342900" marR="0" lvl="0" indent="-342900">
              <a:lnSpc>
                <a:spcPct val="150000"/>
              </a:lnSpc>
              <a:spcBef>
                <a:spcPts val="1190"/>
              </a:spcBef>
              <a:spcAft>
                <a:spcPts val="0"/>
              </a:spcAft>
              <a:buSzPts val="1200"/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Figma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8191D-FB5E-5D5C-DFEA-9082FBEB4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F6069-8263-4296-913A-BC2234E8D32B}" type="datetime1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BB8BD-A468-756E-EDCA-8220932FA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F64AB-77DC-3DB3-8B97-A7936B4D2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417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34D9E-C9E7-0CF9-EC1B-8E827D454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New Times "/>
              </a:rPr>
              <a:t>Lesson Learnt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18269-D52F-712E-74B5-6B1D21808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just">
              <a:lnSpc>
                <a:spcPct val="150000"/>
              </a:lnSpc>
              <a:spcBef>
                <a:spcPts val="119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Learned about HTML, CSS, PHP, JavaScript and MySQL.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119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Learned about how to connect all the modules.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119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Learned about research and literature review of system.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119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Learned to solve problems while testing.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119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Learned to implement a CRUD operation in a system.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22E0B-499A-A2A8-F3E0-098EF49E1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F6069-8263-4296-913A-BC2234E8D32B}" type="datetime1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90C83-95AC-2228-65DD-80786EC7D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B31E6-A288-0DCC-F8C7-7F7F37759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416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6DE11-8AB1-715D-9DB3-384C93D20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FB055-F080-87EE-EAD4-2DDAB32D8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762812"/>
            <a:ext cx="9720073" cy="454654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Development of a web-based Online Bike Rental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Successful implementation of all essential modules.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Customers can perform bike rental transactions conveniently through the web application.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Fulfillment of project objectives.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Overall aim of the system is to offer reliable bike booking and rental services to customers anytime, anywhere.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5D3D8-0683-CB6D-85F5-E7077F8F9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F6069-8263-4296-913A-BC2234E8D32B}" type="datetime1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A0E8C-402F-F93B-BE89-EE63ECAF4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EA1D5-8B61-3B8C-BC7A-9FA73A90B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066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674A-A3ED-7C2A-68C0-E6AC5F999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9EF29-8040-C378-752F-4C1644FAF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just">
              <a:lnSpc>
                <a:spcPct val="150000"/>
              </a:lnSpc>
              <a:spcBef>
                <a:spcPts val="119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Accessing the online payment method.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119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GPS Bike Tracking.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119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Implementation of graph report of rental history for admin dashboard.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7CFBF-F11C-D31E-9CDD-61837A6A8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F6069-8263-4296-913A-BC2234E8D32B}" type="datetime1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9D88D-50A9-2821-759C-5CC15C257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D8E36-B35B-4FB3-7B8E-E4130957B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1508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B1BEA-09C5-C58C-6308-3C4B4D47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5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REFERENCES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3E5D4F7-0E9F-2818-89AF-77D76ECACC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8216163"/>
              </p:ext>
            </p:extLst>
          </p:nvPr>
        </p:nvGraphicFramePr>
        <p:xfrm>
          <a:off x="759988" y="2413408"/>
          <a:ext cx="9720262" cy="13160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9826">
                  <a:extLst>
                    <a:ext uri="{9D8B030D-6E8A-4147-A177-3AD203B41FA5}">
                      <a16:colId xmlns:a16="http://schemas.microsoft.com/office/drawing/2014/main" val="3182553477"/>
                    </a:ext>
                  </a:extLst>
                </a:gridCol>
                <a:gridCol w="9490436">
                  <a:extLst>
                    <a:ext uri="{9D8B030D-6E8A-4147-A177-3AD203B41FA5}">
                      <a16:colId xmlns:a16="http://schemas.microsoft.com/office/drawing/2014/main" val="24129552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[1] 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"</a:t>
                      </a:r>
                      <a:r>
                        <a:rPr lang="en-US" sz="1200" kern="100" dirty="0" err="1">
                          <a:effectLst/>
                        </a:rPr>
                        <a:t>selfdrivenepal</a:t>
                      </a:r>
                      <a:r>
                        <a:rPr lang="en-US" sz="1200" kern="100" dirty="0">
                          <a:effectLst/>
                        </a:rPr>
                        <a:t>," [Online]. Available: https://selfdrivenepal.com/. [Accessed 26 12 2023].</a:t>
                      </a:r>
                      <a:endParaRPr lang="en-US" sz="11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4244866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[2] 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"Maharjan Bikes Rental," [Online]. Available: https://maharjanbikesrental.com/. [Accessed 27 12 2023].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268246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[3] 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R. Mall, Fundamentals of Software Engineering, Delhi, 2014. 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631762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[4] 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J. R. G. a. P. N. Weinberg, The complete Reference SQL, 2007. 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2470910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[5] 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D. Flanagan, JavaScript: The Definitive Guide, O' Reilly Media, 2011. </a:t>
                      </a:r>
                      <a:endParaRPr lang="en-US" sz="11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827829829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964BF-F028-F34A-6C08-8D3121848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F6069-8263-4296-913A-BC2234E8D32B}" type="datetime1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1CD4A-6FE9-0A1F-4F79-41F4C073B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048E5-A95B-98F4-3A2B-FB75AED3F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3880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E350C-C6D2-F127-E638-6BED28AD6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5739C9-4157-6CA4-DDB5-83DFEEF74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2AC11-ACC3-4129-BBD7-C580BF1A4EE7}" type="datetime1">
              <a:rPr lang="en-US" smtClean="0"/>
              <a:t>5/10/2024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EAEC5B-8BCB-A718-A4B4-5D9A7D2ED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2ADD1E-06EA-5000-E4CA-DCA0FBC09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9821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4825F1AF-8DBC-4E3D-9F3D-688338DA83F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151</TotalTime>
  <Words>571</Words>
  <Application>Microsoft Office PowerPoint</Application>
  <PresentationFormat>Widescreen</PresentationFormat>
  <Paragraphs>143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New Times </vt:lpstr>
      <vt:lpstr>Symbol</vt:lpstr>
      <vt:lpstr>Times New Roman</vt:lpstr>
      <vt:lpstr>Tw Cen MT</vt:lpstr>
      <vt:lpstr>Tw Cen MT Condensed</vt:lpstr>
      <vt:lpstr>Wingdings 3</vt:lpstr>
      <vt:lpstr>Integral</vt:lpstr>
      <vt:lpstr>ONLINE BIKE RENTAL SYSTEM</vt:lpstr>
      <vt:lpstr>INTRODUCTION</vt:lpstr>
      <vt:lpstr>Problem statement</vt:lpstr>
      <vt:lpstr>OBJECTIVE</vt:lpstr>
      <vt:lpstr>Scope and limitation</vt:lpstr>
      <vt:lpstr>System analysis and design</vt:lpstr>
      <vt:lpstr>Requirement analysis</vt:lpstr>
      <vt:lpstr>USE CASE DIAGRAM</vt:lpstr>
      <vt:lpstr>FEASIBILITY STUDY</vt:lpstr>
      <vt:lpstr>Gant chart</vt:lpstr>
      <vt:lpstr>PowerPoint Presentation</vt:lpstr>
      <vt:lpstr>PowerPoint Presentation</vt:lpstr>
      <vt:lpstr>PowerPoint Presentation</vt:lpstr>
      <vt:lpstr>PowerPoint Presentation</vt:lpstr>
      <vt:lpstr>implementation</vt:lpstr>
      <vt:lpstr>Lesson Learnt</vt:lpstr>
      <vt:lpstr>CONCLUSION</vt:lpstr>
      <vt:lpstr>FUTURE RECOMMENDATION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BIKE RENTAL SYSTEM</dc:title>
  <dc:creator>Noorullah Khan</dc:creator>
  <cp:lastModifiedBy>Noorullah Khan</cp:lastModifiedBy>
  <cp:revision>5</cp:revision>
  <dcterms:created xsi:type="dcterms:W3CDTF">2024-05-10T14:38:54Z</dcterms:created>
  <dcterms:modified xsi:type="dcterms:W3CDTF">2024-05-10T17:10:12Z</dcterms:modified>
</cp:coreProperties>
</file>